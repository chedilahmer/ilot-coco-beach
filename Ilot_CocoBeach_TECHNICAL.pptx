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194560"/>
            <a:ext cx="39319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ILOT COCO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FDBA74"/>
                </a:solidFill>
                <a:latin typeface="Calibri"/>
              </a:defRPr>
            </a:pPr>
            <a:r>
              <a:t>Technical Specification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t>Internal Document - Development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Vue.js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TailwindCSS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GSAP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Prisma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JWT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4572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D3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459943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0E7490"/>
                </a:solidFill>
                <a:latin typeface="Calibri"/>
              </a:defRPr>
            </a:pPr>
            <a:r>
              <a:t>Cloudflare R2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March 2026 | ~200h | 40 User Stories | 10 DB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All tools and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2/13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566160" cy="274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Vue.js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Composition API + script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Vite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06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Build tool + HMR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TailwindCSS 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063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@theme tokens, RTL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Vue Router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SPA routing + hash anchors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Vue I18n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977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FR / AR / EN translations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Pinia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434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GSAP + ScrollTrigger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Scroll animations, entrance fx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Lenis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Smooth scroll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06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Swiper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Image carousels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55448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9768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783080"/>
            <a:ext cx="356616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148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Node.js + Fastify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REST API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2606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Prisma 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2606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Type-safe DB queries, migrations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063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JWT (jsonwebtoken)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063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Auth tokens (access + refresh)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bcrypt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Password hashing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3977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node-cron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3977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Scheduled jobs (flash sales)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Multer + S3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4434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File upload to object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892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Passport.js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Google / Facebook OAuth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5349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Zod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Request validation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55448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3816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1783080"/>
            <a:ext cx="3566160" cy="274320"/>
          </a:xfrm>
          <a:prstGeom prst="rect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2148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Primary database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606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Cloudflare R2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2606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Image/video storage (S3 API)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063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3063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Frontend hosting (free)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3520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Railway / Hetzner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Backend hosting ($5-7/mo)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3977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Cloudflare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3977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CDN + SSL + DDoS protection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4434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4892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1C1917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Containerized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Backend Framework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Why Node.js over .NET, Django, Laravel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3/13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406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Node.js (Fastify)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Django (Python)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.NET Core (C#)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Laravel (PHP)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Dev Speed (CRUD)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Hosting Cost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 ($5/mo)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 ($5/mo)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★★★☆☆ ($13+/mo)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 ($3/mo)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Same Lang as 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 (JS/TS)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★★☆☆☆ (Python)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★★☆☆☆ (C#)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★★☆☆☆ (PHP)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ORM Quality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Prisma (excellent)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Django ORM (great)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EF Core (great)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Eloquent (great)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Auth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Passport.js +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Django AllAuth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Identity + 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Sanctum + Breeze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Cron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node-cron / Bull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Celery + Beat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Hangfire / Quartz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Built-in scheduler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OVH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 (Docker)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★★★★☆ (Docker)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★★★☆☆ (.NET runtime)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★★★★★ (native PHP)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34/35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29/35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22/35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29/35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0352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F97316"/>
                </a:solidFill>
                <a:latin typeface="Calibri"/>
              </a:defRPr>
            </a:pPr>
            <a:r>
              <a:t>DECISION: Node.js + Fastify + Prisma +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One language everywhere (JS/TS). Cheapest to host. Fastest CRUD dev. Single dev can own full stack. If OVH shared hosting becomes mandatory, fallback to Laravel with same Vue.js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Hosting &amp; Infrastructure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Phase 1 (managed) -&gt; Phase 2 (VPS)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4/13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1097280"/>
                <a:gridCol w="1097280"/>
                <a:gridCol w="73152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Cost/mo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Railway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PG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$5-10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Render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PaaS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Starter $7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PG $7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$7-14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Vercel+Supabase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Serverless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Edge funcs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Supabase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Fly.io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Containers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 free VMs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PG 3GB free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$0-5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544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914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Price/mo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Hetzner CX22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 vCPU, 4GB, 40GB, 20TB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EUR 3.79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OVH VPS Starter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 vCPU, 2GB, 20GB, unlim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EUR 3.50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Contabo VPS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 vCPU, 8GB, 50GB, 32TB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EUR 4.99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DigitalOcean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 vCPU, 1GB, 25GB, 1TB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$6.00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1148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0E7490"/>
                </a:solidFill>
                <a:latin typeface="Calibri"/>
              </a:defRPr>
            </a:pPr>
            <a:r>
              <a:t>Phase 1: Launch ($5-7/mo)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Frontend: Vercel (free, auto-deploy from GitHub)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Backend: Railway Hobby ($5/mo, includes PostgreSQL)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Storage: Cloudflare R2 (10GB free, S3-compatible)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CDN/SSL: Cloudflare (free)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Domain: ~$12/year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TOTAL: ~$5-7/month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F97316"/>
                </a:solidFill>
                <a:latin typeface="Calibri"/>
              </a:defRPr>
            </a:pPr>
            <a:r>
              <a:t>Phase 2: OVH Migration (~EUR 4-7/mo)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663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Hetzner CX22 or OVH VPS Comfort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Docker: Node.js API + Nginx reverse proxy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PostgreSQL self-hosted on same VPS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R2 storage remains (or self-hosted MinIO)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Cloudflare CDN remains (free)</a:t>
            </a:r>
          </a:p>
          <a:p>
            <a:pPr>
              <a:spcAft>
                <a:spcPts val="359"/>
              </a:spcAft>
              <a:defRPr sz="1200">
                <a:solidFill>
                  <a:srgbClr val="1C1917"/>
                </a:solidFill>
                <a:latin typeface="Calibri"/>
              </a:defRPr>
            </a:pPr>
            <a:r>
              <a:t>TOTAL: ~EUR 4-7/month all-in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10 tables, PostgreSQL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5/13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2194560" cy="228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18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 (UUID PK), email, phone, password_hash,</a:t>
            </a:r>
            <a:br/>
            <a:r>
              <a:t>name, role (user|admin), provider</a:t>
            </a:r>
            <a:br/>
            <a:r>
              <a:t>(email|google|fb), 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55448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55448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755648"/>
            <a:ext cx="2194560" cy="228600"/>
          </a:xfrm>
          <a:prstGeom prst="rect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618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menu_categories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057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 (UUID PK), name_fr, name_en,</a:t>
            </a:r>
            <a:br/>
            <a:r>
              <a:t>name_ar, sort_order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55448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155448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755648"/>
            <a:ext cx="2194560" cy="228600"/>
          </a:xfrm>
          <a:prstGeom prst="rect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618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menu_items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057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id, category_id (FK), name_*, desc_*,</a:t>
            </a:r>
            <a:br/>
            <a:r>
              <a:t>price_standard, price_extra, image_url,</a:t>
            </a:r>
            <a:br/>
            <a:r>
              <a:t>is_available, sort_order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55448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55448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755648"/>
            <a:ext cx="2194560" cy="228600"/>
          </a:xfrm>
          <a:prstGeom prst="rect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618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emplacements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057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id, name_*, description_*, price,</a:t>
            </a:r>
            <a:br/>
            <a:r>
              <a:t>image_url, capacity, sort_order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55448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84080" y="155448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755648"/>
            <a:ext cx="219456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1618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0574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id, url, section (hero|gallery|menu|</a:t>
            </a:r>
            <a:br/>
            <a:r>
              <a:t>emplacement), alt_text, sort_order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20624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420624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407408"/>
            <a:ext cx="2194560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vouchers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09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id, code (unique), discount_percent,</a:t>
            </a:r>
            <a:br/>
            <a:r>
              <a:t>discount_amount, valid_from, valid_until,</a:t>
            </a:r>
            <a:br/>
            <a:r>
              <a:t>max_uses, current_uses, is_active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420624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51760" y="420624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51760" y="4407408"/>
            <a:ext cx="219456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flash_sales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709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id, title_*, description_*, discount_%,</a:t>
            </a:r>
            <a:br/>
            <a:r>
              <a:t>starts_at, ends_at, is_active, image_url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420624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0" y="420624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4407408"/>
            <a:ext cx="219456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709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id, user_id (FK), rating (1-5), comment,</a:t>
            </a:r>
            <a:br/>
            <a:r>
              <a:t>is_approved, is_visible, created_at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420624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406640" y="420624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4407408"/>
            <a:ext cx="2194560" cy="228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reservations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0" y="4709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id, user_id (FK nullable), name, phone,</a:t>
            </a:r>
            <a:br/>
            <a:r>
              <a:t>date, guests, message, voucher_id (FK),</a:t>
            </a:r>
            <a:br/>
            <a:r>
              <a:t>status (pending|confirmed|cancelled)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84080" y="4206240"/>
            <a:ext cx="2194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84080" y="4206240"/>
            <a:ext cx="2194560" cy="41148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84080" y="4407408"/>
            <a:ext cx="2194560" cy="228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site_settings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4709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key (PK), value (TEXT)</a:t>
            </a:r>
            <a:br/>
            <a:r>
              <a:t>Stores: phone, address, lat/lng,</a:t>
            </a:r>
            <a:br/>
            <a:r>
              <a:t>about_text, seo_keywords,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Fastify routes grouped by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6/13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83210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3200400"/>
                <a:gridCol w="731520"/>
                <a:gridCol w="2743200"/>
              </a:tblGrid>
              <a:tr h="236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/api/auth/register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Sign up (email/phone+pass)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Login, returns JWT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/api/auth/google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Google OAuth callback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/api/auth/facebook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Facebook OAuth callback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 all categories + items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Menu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/api/admin/menu/items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Create menu item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/api/admin/menu/items/:id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Update menu item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Menu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/api/admin/menu/items/:id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Delete menu item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/api/images/:section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 images by section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/api/admin/images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Upload image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/api/admin/images/:id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Delete image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Vouchers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/api/vouchers/active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 active vouchers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Vouchers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/api/admin/vouchers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Create voucher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Flash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/api/flash-sales/active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 active flash sales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/api/admin/flash-sales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Create flash sale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/api/reviews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 approved reviews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Submit a review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/api/admin/reviews/:id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Approve/reject review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/api/reservations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Submit reservation</a:t>
                      </a:r>
                    </a:p>
                  </a:txBody>
                  <a:tcPr/>
                </a:tc>
              </a:tr>
              <a:tr h="236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Settings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/api/settings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Get site settings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3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/api/admin/settings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Update site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User Stories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40 stories across 8 epics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7/13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9966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"/>
                <a:gridCol w="6400800"/>
                <a:gridCol w="731520"/>
                <a:gridCol w="731520"/>
              </a:tblGrid>
              <a:tr h="4322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Epic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Story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Hero video, about, gallery, menu, emplacements, vouchers, flash sales, reviews, social, map, i18n, responsive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50h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Register (email/phone), Login, Google/FB OAuth, Password reset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17h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Form + WhatsApp send, Apply voucher, View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11h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Submit review (logged in), Display approved only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Login, Menu CRUD, Image mgmt, Hero video, Emplacements,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30h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 Promos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Voucher CRUD, Flash sale scheduling, Auto-activate/deactivate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18h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Admin Moderation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View/approve/reject reviews, View reservations, View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11h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Infra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DB schema + migrations, API + auth middleware, File storage, Cron jobs, CI/CD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26h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QA +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Testing, bug fixes, responsive polish, production deploy, client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30h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199h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Cron Jobs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Scheduled tasks for flash sales and vouchers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8/13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0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Flash Sale Cron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Schedule: Every minute (* * * * *)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Logic: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1. Query flash_sales WHERE starts_at &lt;= NOW() AND is_active = false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-&gt; SET is_active = true (activate)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2. Query flash_sales WHERE ends_at &lt;= NOW() AND is_active = true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-&gt; SET is_active = false (deactivate)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Implementation: node-cron in Fastify plugin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Alternative: Railway/Render cron if available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Frontend: Countdown timer reads ends_at,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calculates remaining time client-side (no API polling)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53035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Voucher Expiry Cron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Schedule: Every hour (0 * * * *)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Logic: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1. Query vouchers WHERE valid_until &lt;= NOW()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AND is_active = true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-&gt; SET is_active = false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2. Query vouchers WHERE current_uses &gt;= max_uses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AND is_active = true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-&gt; SET is_active = false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Validation also happens at reservation time: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API checks voucher validity before accepting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Admin can manually activate/deactivate anytime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Authentication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JWT + OAuth2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9/13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56616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Email/Phone Registration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231136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Client sends POST /auth/register {email, password, name}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734056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Server validates with Zod, hashes password (bcrypt, 12 rounds)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236976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Creates user record, returns JWT access + refresh tokens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39896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Access token: 15min expiry, stored in memory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42816"/>
            <a:ext cx="201168" cy="20116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Refresh token: 7d expiry, httpOnly cookie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55448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8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783080"/>
            <a:ext cx="356616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Google/Facebook OAuth</a:t>
            </a:r>
          </a:p>
        </p:txBody>
      </p:sp>
      <p:sp>
        <p:nvSpPr>
          <p:cNvPr id="24" name="Oval 23"/>
          <p:cNvSpPr/>
          <p:nvPr/>
        </p:nvSpPr>
        <p:spPr>
          <a:xfrm>
            <a:off x="4480560" y="2231136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Client redirects to /auth/google (or /facebook)</a:t>
            </a:r>
          </a:p>
        </p:txBody>
      </p:sp>
      <p:sp>
        <p:nvSpPr>
          <p:cNvPr id="26" name="Oval 25"/>
          <p:cNvSpPr/>
          <p:nvPr/>
        </p:nvSpPr>
        <p:spPr>
          <a:xfrm>
            <a:off x="4480560" y="2734056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Provider returns auth code to callback URL</a:t>
            </a:r>
          </a:p>
        </p:txBody>
      </p:sp>
      <p:sp>
        <p:nvSpPr>
          <p:cNvPr id="28" name="Oval 27"/>
          <p:cNvSpPr/>
          <p:nvPr/>
        </p:nvSpPr>
        <p:spPr>
          <a:xfrm>
            <a:off x="4480560" y="3236976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Server exchanges code for provider access token</a:t>
            </a:r>
          </a:p>
        </p:txBody>
      </p:sp>
      <p:sp>
        <p:nvSpPr>
          <p:cNvPr id="30" name="Oval 29"/>
          <p:cNvSpPr/>
          <p:nvPr/>
        </p:nvSpPr>
        <p:spPr>
          <a:xfrm>
            <a:off x="4480560" y="3739896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Fetches user profile from provider API</a:t>
            </a:r>
          </a:p>
        </p:txBody>
      </p:sp>
      <p:sp>
        <p:nvSpPr>
          <p:cNvPr id="32" name="Oval 31"/>
          <p:cNvSpPr/>
          <p:nvPr/>
        </p:nvSpPr>
        <p:spPr>
          <a:xfrm>
            <a:off x="4480560" y="4242816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Creates/links user, returns JWT tokens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155448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1783080"/>
            <a:ext cx="35661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Admin Auth</a:t>
            </a:r>
          </a:p>
        </p:txBody>
      </p:sp>
      <p:sp>
        <p:nvSpPr>
          <p:cNvPr id="38" name="Oval 37"/>
          <p:cNvSpPr/>
          <p:nvPr/>
        </p:nvSpPr>
        <p:spPr>
          <a:xfrm>
            <a:off x="8321040" y="223113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Same JWT flow but with role check middleware</a:t>
            </a:r>
          </a:p>
        </p:txBody>
      </p:sp>
      <p:sp>
        <p:nvSpPr>
          <p:cNvPr id="40" name="Oval 39"/>
          <p:cNvSpPr/>
          <p:nvPr/>
        </p:nvSpPr>
        <p:spPr>
          <a:xfrm>
            <a:off x="8321040" y="273405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admin routes check: req.user.role === "admin"</a:t>
            </a:r>
          </a:p>
        </p:txBody>
      </p:sp>
      <p:sp>
        <p:nvSpPr>
          <p:cNvPr id="42" name="Oval 41"/>
          <p:cNvSpPr/>
          <p:nvPr/>
        </p:nvSpPr>
        <p:spPr>
          <a:xfrm>
            <a:off x="8321040" y="323697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Admin accounts created via DB seed or API</a:t>
            </a:r>
          </a:p>
        </p:txBody>
      </p:sp>
      <p:sp>
        <p:nvSpPr>
          <p:cNvPr id="44" name="Oval 43"/>
          <p:cNvSpPr/>
          <p:nvPr/>
        </p:nvSpPr>
        <p:spPr>
          <a:xfrm>
            <a:off x="8321040" y="373989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No self-registration for admin (security)</a:t>
            </a:r>
          </a:p>
        </p:txBody>
      </p:sp>
      <p:sp>
        <p:nvSpPr>
          <p:cNvPr id="46" name="Oval 45"/>
          <p:cNvSpPr/>
          <p:nvPr/>
        </p:nvSpPr>
        <p:spPr>
          <a:xfrm>
            <a:off x="8321040" y="424281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1C1917"/>
                </a:solidFill>
                <a:latin typeface="Calibri"/>
              </a:defRPr>
            </a:pPr>
            <a:r>
              <a:t>Consider: 2FA via TOTP for admin accounts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Vue 3 component structure + 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10/13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0E7490"/>
                </a:solidFill>
                <a:latin typeface="Calibri"/>
              </a:defRPr>
            </a:pPr>
            <a:r>
              <a:t>Component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App.vue (Lenis smooth scroll, i18n dir/lang)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HomeView.vue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NavBar.vue (IntersectionObserver, lang switcher)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HeroSection.vue (Ken Burns, GSAP stagger)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AboutSection.vue (Parallax, feature cards)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GallerySection.vue (Masonry, lightbox, clip-path)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VideoSection.vue (Custom player, scroll trigger)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ExperienceSection.vue (Horiz scroll, 3D tilt)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ReservationSection.vue (WhatsApp form builder)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LocationSection.vue (Maps embed, contact cards)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  FooterSection.vue (Wave SVG, social links)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AdminLogin.vue (Supabase/JWT auth)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  AdminDashboard.vue (Image CRUD, menu mgmt)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0E7490"/>
                </a:solidFill>
                <a:latin typeface="Calibri"/>
              </a:defRPr>
            </a:pPr>
            <a:r>
              <a:t>State Management (Pinia)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useAuthStore - user session, JWT tokens, role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useMenuStore - categories, items, fetch/cache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useGalleryStore - images by section, admin CRUD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useSettingsStore - site config, SEO, contact info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usePromoStore - vouchers, flash sales, timers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0E7490"/>
                </a:solidFill>
                <a:latin typeface="Calibri"/>
              </a:defRPr>
            </a:pPr>
            <a:r>
              <a:t>Key Composables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useConfig() - env vars (phone, address, socials)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useScrollAnimation() - GSAP ScrollTrigger setup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useWhatsApp() - builds + encodes WA message URL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useCountdown(endDate) - reactive timer for flash sales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useImageUpload() - S3/R2 upload with progress</a:t>
            </a:r>
          </a:p>
          <a:p>
            <a:pPr>
              <a:spcAft>
                <a:spcPts val="330"/>
              </a:spcAft>
              <a:defRPr sz="1100">
                <a:solidFill>
                  <a:srgbClr val="1C1917"/>
                </a:solidFill>
                <a:latin typeface="Calibri"/>
              </a:defRPr>
            </a:pPr>
            <a:r>
              <a:t>useApi() - fetch wrapper with JWT auto-refresh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Sprint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10 weeks, 2-week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11/13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21945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2194560" cy="2560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Sprint 1</a:t>
            </a:r>
            <a:br/>
            <a:r>
              <a:t>Week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DDEEFF"/>
                </a:solidFill>
                <a:latin typeface="Calibri"/>
              </a:defRPr>
            </a:pPr>
            <a:r>
              <a:t>Infrastructure + Public Site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615184"/>
            <a:ext cx="137160" cy="1371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DB schema + Prisma migrations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026664"/>
            <a:ext cx="137160" cy="1371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Fastify API scaffold + auth middleware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3438144"/>
            <a:ext cx="137160" cy="1371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Hero, About, Gallery, Video sections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849624"/>
            <a:ext cx="137160" cy="1371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Lenis + GSAP scroll animations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4261104"/>
            <a:ext cx="137160" cy="1371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i18n setup (FR/AR/EN)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1554480"/>
            <a:ext cx="21945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51760" y="155448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2148840"/>
            <a:ext cx="2194560" cy="256032"/>
          </a:xfrm>
          <a:prstGeom prst="rect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Sprint 2</a:t>
            </a:r>
            <a:br/>
            <a:r>
              <a:t>Week 3-4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DDEEFF"/>
                </a:solidFill>
                <a:latin typeface="Calibri"/>
              </a:defRPr>
            </a:pPr>
            <a:r>
              <a:t>Auth + Dynamic Content</a:t>
            </a:r>
          </a:p>
        </p:txBody>
      </p:sp>
      <p:sp>
        <p:nvSpPr>
          <p:cNvPr id="26" name="Oval 25"/>
          <p:cNvSpPr/>
          <p:nvPr/>
        </p:nvSpPr>
        <p:spPr>
          <a:xfrm>
            <a:off x="2788920" y="2615184"/>
            <a:ext cx="137160" cy="13716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2560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User registration (email/phone)</a:t>
            </a:r>
          </a:p>
        </p:txBody>
      </p:sp>
      <p:sp>
        <p:nvSpPr>
          <p:cNvPr id="28" name="Oval 27"/>
          <p:cNvSpPr/>
          <p:nvPr/>
        </p:nvSpPr>
        <p:spPr>
          <a:xfrm>
            <a:off x="2788920" y="3026664"/>
            <a:ext cx="137160" cy="13716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971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Google + Facebook OAuth</a:t>
            </a:r>
          </a:p>
        </p:txBody>
      </p:sp>
      <p:sp>
        <p:nvSpPr>
          <p:cNvPr id="30" name="Oval 29"/>
          <p:cNvSpPr/>
          <p:nvPr/>
        </p:nvSpPr>
        <p:spPr>
          <a:xfrm>
            <a:off x="2788920" y="3438144"/>
            <a:ext cx="137160" cy="13716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Menu page (Standard/Extra)</a:t>
            </a:r>
          </a:p>
        </p:txBody>
      </p:sp>
      <p:sp>
        <p:nvSpPr>
          <p:cNvPr id="32" name="Oval 31"/>
          <p:cNvSpPr/>
          <p:nvPr/>
        </p:nvSpPr>
        <p:spPr>
          <a:xfrm>
            <a:off x="2788920" y="3849624"/>
            <a:ext cx="137160" cy="13716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Emplacements page</a:t>
            </a:r>
          </a:p>
        </p:txBody>
      </p:sp>
      <p:sp>
        <p:nvSpPr>
          <p:cNvPr id="34" name="Oval 33"/>
          <p:cNvSpPr/>
          <p:nvPr/>
        </p:nvSpPr>
        <p:spPr>
          <a:xfrm>
            <a:off x="2788920" y="4261104"/>
            <a:ext cx="137160" cy="13716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Review display + submission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1554480"/>
            <a:ext cx="21945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0" y="155448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2148840"/>
            <a:ext cx="2194560" cy="256032"/>
          </a:xfrm>
          <a:prstGeom prst="rect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Sprint 3</a:t>
            </a:r>
            <a:br/>
            <a:r>
              <a:t>Week 5-6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DDEEFF"/>
                </a:solidFill>
                <a:latin typeface="Calibri"/>
              </a:defRPr>
            </a:pPr>
            <a:r>
              <a:t>Backoffice Core</a:t>
            </a:r>
          </a:p>
        </p:txBody>
      </p:sp>
      <p:sp>
        <p:nvSpPr>
          <p:cNvPr id="41" name="Oval 40"/>
          <p:cNvSpPr/>
          <p:nvPr/>
        </p:nvSpPr>
        <p:spPr>
          <a:xfrm>
            <a:off x="5166360" y="2615184"/>
            <a:ext cx="137160" cy="137160"/>
          </a:xfrm>
          <a:prstGeom prst="ellipse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2560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Admin dashboard layout</a:t>
            </a:r>
          </a:p>
        </p:txBody>
      </p:sp>
      <p:sp>
        <p:nvSpPr>
          <p:cNvPr id="43" name="Oval 42"/>
          <p:cNvSpPr/>
          <p:nvPr/>
        </p:nvSpPr>
        <p:spPr>
          <a:xfrm>
            <a:off x="5166360" y="3026664"/>
            <a:ext cx="137160" cy="137160"/>
          </a:xfrm>
          <a:prstGeom prst="ellipse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2971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Menu CRUD (categories + items)</a:t>
            </a:r>
          </a:p>
        </p:txBody>
      </p:sp>
      <p:sp>
        <p:nvSpPr>
          <p:cNvPr id="45" name="Oval 44"/>
          <p:cNvSpPr/>
          <p:nvPr/>
        </p:nvSpPr>
        <p:spPr>
          <a:xfrm>
            <a:off x="5166360" y="3438144"/>
            <a:ext cx="137160" cy="137160"/>
          </a:xfrm>
          <a:prstGeom prst="ellipse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6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Image manager (upload/reorder/delete)</a:t>
            </a:r>
          </a:p>
        </p:txBody>
      </p:sp>
      <p:sp>
        <p:nvSpPr>
          <p:cNvPr id="47" name="Oval 46"/>
          <p:cNvSpPr/>
          <p:nvPr/>
        </p:nvSpPr>
        <p:spPr>
          <a:xfrm>
            <a:off x="5166360" y="3849624"/>
            <a:ext cx="137160" cy="137160"/>
          </a:xfrm>
          <a:prstGeom prst="ellipse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Emplacement editor</a:t>
            </a:r>
          </a:p>
        </p:txBody>
      </p:sp>
      <p:sp>
        <p:nvSpPr>
          <p:cNvPr id="49" name="Oval 48"/>
          <p:cNvSpPr/>
          <p:nvPr/>
        </p:nvSpPr>
        <p:spPr>
          <a:xfrm>
            <a:off x="5166360" y="4261104"/>
            <a:ext cx="137160" cy="137160"/>
          </a:xfrm>
          <a:prstGeom prst="ellipse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Site settings editor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1554480"/>
            <a:ext cx="21945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06640" y="155448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06640" y="2148840"/>
            <a:ext cx="219456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Sprint 4</a:t>
            </a:r>
            <a:br/>
            <a:r>
              <a:t>Week 7-8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DDEEFF"/>
                </a:solidFill>
                <a:latin typeface="Calibri"/>
              </a:defRPr>
            </a:pPr>
            <a:r>
              <a:t>Promos + Automation</a:t>
            </a:r>
          </a:p>
        </p:txBody>
      </p:sp>
      <p:sp>
        <p:nvSpPr>
          <p:cNvPr id="56" name="Oval 55"/>
          <p:cNvSpPr/>
          <p:nvPr/>
        </p:nvSpPr>
        <p:spPr>
          <a:xfrm>
            <a:off x="7543800" y="2615184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2560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Voucher CRUD + validation</a:t>
            </a:r>
          </a:p>
        </p:txBody>
      </p:sp>
      <p:sp>
        <p:nvSpPr>
          <p:cNvPr id="58" name="Oval 57"/>
          <p:cNvSpPr/>
          <p:nvPr/>
        </p:nvSpPr>
        <p:spPr>
          <a:xfrm>
            <a:off x="7543800" y="3026664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2971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Flash sale scheduling + cron</a:t>
            </a:r>
          </a:p>
        </p:txBody>
      </p:sp>
      <p:sp>
        <p:nvSpPr>
          <p:cNvPr id="60" name="Oval 59"/>
          <p:cNvSpPr/>
          <p:nvPr/>
        </p:nvSpPr>
        <p:spPr>
          <a:xfrm>
            <a:off x="7543800" y="3438144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Countdown timer component</a:t>
            </a:r>
          </a:p>
        </p:txBody>
      </p:sp>
      <p:sp>
        <p:nvSpPr>
          <p:cNvPr id="62" name="Oval 61"/>
          <p:cNvSpPr/>
          <p:nvPr/>
        </p:nvSpPr>
        <p:spPr>
          <a:xfrm>
            <a:off x="7543800" y="3849624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Review moderation panel</a:t>
            </a:r>
          </a:p>
        </p:txBody>
      </p:sp>
      <p:sp>
        <p:nvSpPr>
          <p:cNvPr id="64" name="Oval 63"/>
          <p:cNvSpPr/>
          <p:nvPr/>
        </p:nvSpPr>
        <p:spPr>
          <a:xfrm>
            <a:off x="7543800" y="4261104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0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Reservation viewer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84080" y="1554480"/>
            <a:ext cx="21945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784080" y="155448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84080" y="2148840"/>
            <a:ext cx="21945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2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Sprint 5</a:t>
            </a:r>
            <a:br/>
            <a:r>
              <a:t>Week 9-10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DDEEFF"/>
                </a:solidFill>
                <a:latin typeface="Calibri"/>
              </a:defRPr>
            </a:pPr>
            <a:r>
              <a:t>QA + Launch</a:t>
            </a:r>
          </a:p>
        </p:txBody>
      </p:sp>
      <p:sp>
        <p:nvSpPr>
          <p:cNvPr id="71" name="Oval 70"/>
          <p:cNvSpPr/>
          <p:nvPr/>
        </p:nvSpPr>
        <p:spPr>
          <a:xfrm>
            <a:off x="9921240" y="2615184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49840" y="25603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Responsive testing (all breakpoints)</a:t>
            </a:r>
          </a:p>
        </p:txBody>
      </p:sp>
      <p:sp>
        <p:nvSpPr>
          <p:cNvPr id="73" name="Oval 72"/>
          <p:cNvSpPr/>
          <p:nvPr/>
        </p:nvSpPr>
        <p:spPr>
          <a:xfrm>
            <a:off x="9921240" y="3026664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49840" y="2971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Cross-browser testing</a:t>
            </a:r>
          </a:p>
        </p:txBody>
      </p:sp>
      <p:sp>
        <p:nvSpPr>
          <p:cNvPr id="75" name="Oval 74"/>
          <p:cNvSpPr/>
          <p:nvPr/>
        </p:nvSpPr>
        <p:spPr>
          <a:xfrm>
            <a:off x="9921240" y="3438144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49840" y="33832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Performance optimization (lazy load)</a:t>
            </a:r>
          </a:p>
        </p:txBody>
      </p:sp>
      <p:sp>
        <p:nvSpPr>
          <p:cNvPr id="77" name="Oval 76"/>
          <p:cNvSpPr/>
          <p:nvPr/>
        </p:nvSpPr>
        <p:spPr>
          <a:xfrm>
            <a:off x="9921240" y="3849624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49840" y="37947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Production deployment</a:t>
            </a:r>
          </a:p>
        </p:txBody>
      </p:sp>
      <p:sp>
        <p:nvSpPr>
          <p:cNvPr id="79" name="Oval 78"/>
          <p:cNvSpPr/>
          <p:nvPr/>
        </p:nvSpPr>
        <p:spPr>
          <a:xfrm>
            <a:off x="9921240" y="4261104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49840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1C1917"/>
                </a:solidFill>
                <a:latin typeface="Calibri"/>
              </a:defRPr>
            </a:pPr>
            <a:r>
              <a:t>Client training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0E7490"/>
                </a:solidFill>
                <a:latin typeface="Calibri"/>
              </a:defRPr>
            </a:pPr>
            <a:r>
              <a:t>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1">
                <a:solidFill>
                  <a:srgbClr val="6B7280"/>
                </a:solidFill>
                <a:latin typeface="Calibri"/>
              </a:defRPr>
            </a:pPr>
            <a:r>
              <a:t>Development + monthly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12/13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0E7490"/>
                </a:solidFill>
                <a:latin typeface="Calibri"/>
              </a:defRPr>
            </a:pPr>
            <a:r>
              <a:t>Development Cost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6400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Freelance (Tunisia)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30-50 TND/h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200h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6,000-10,000 TND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Freelance (International)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$25-50/h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200h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$5,000-10,000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Small 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$40-80/h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200h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$8,000-16,000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0E7490"/>
                </a:solidFill>
                <a:latin typeface="Calibri"/>
              </a:defRPr>
            </a:pPr>
            <a:r>
              <a:t>Monthly Hosting Cost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82880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828800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2 (OVH)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Backend 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Railway $5/mo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Hetzner EUR 3.79/mo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Frontend hosting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Vercel free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Same VPS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Railway PG (included)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Self-hosted PG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File storage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Cloudflare R2 (free)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R2 or MinIO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CDN + 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Cloudflare (free)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Cloudflare (free)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~$12/year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~$12/year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$5-7/month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917"/>
                          </a:solidFill>
                          <a:latin typeface="Calibri"/>
                        </a:defRPr>
                      </a:pPr>
                      <a:r>
                        <a:t>EUR 4-7/month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393192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F97316"/>
                </a:solidFill>
                <a:latin typeface="Calibri"/>
              </a:defRPr>
            </a:pPr>
            <a:r>
              <a:t>Suggested Client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AABBCC"/>
                </a:solidFill>
                <a:latin typeface="Calibri"/>
              </a:defRPr>
            </a:pPr>
            <a:r>
              <a:t>Option A: 10,000 TND flat + 200 TND/mo maintenance</a:t>
            </a:r>
          </a:p>
          <a:p>
            <a:pPr>
              <a:spcAft>
                <a:spcPts val="359"/>
              </a:spcAft>
              <a:defRPr sz="1200">
                <a:solidFill>
                  <a:srgbClr val="AABBCC"/>
                </a:solidFill>
                <a:latin typeface="Calibri"/>
              </a:defRPr>
            </a:pPr>
            <a:r>
              <a:t>Option B: Phase 1 MVP 6,000 TND + Phase 2 4,000 TND</a:t>
            </a:r>
          </a:p>
          <a:p>
            <a:pPr>
              <a:spcAft>
                <a:spcPts val="359"/>
              </a:spcAft>
              <a:defRPr sz="1200">
                <a:solidFill>
                  <a:srgbClr val="AABBCC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>
                <a:solidFill>
                  <a:srgbClr val="AABBCC"/>
                </a:solidFill>
                <a:latin typeface="Calibri"/>
              </a:defRPr>
            </a:pPr>
            <a:r>
              <a:t>Includes: Source code ownership, 3 months support,</a:t>
            </a:r>
          </a:p>
          <a:p>
            <a:pPr>
              <a:spcAft>
                <a:spcPts val="359"/>
              </a:spcAft>
              <a:defRPr sz="1200">
                <a:solidFill>
                  <a:srgbClr val="AABBCC"/>
                </a:solidFill>
                <a:latin typeface="Calibri"/>
              </a:defRPr>
            </a:pPr>
            <a:r>
              <a:t>backoffice training, documentation, first year hosting.</a:t>
            </a:r>
          </a:p>
          <a:p>
            <a:pPr>
              <a:spcAft>
                <a:spcPts val="359"/>
              </a:spcAft>
              <a:defRPr sz="1200">
                <a:solidFill>
                  <a:srgbClr val="AABBCC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>
                <a:solidFill>
                  <a:srgbClr val="AABBCC"/>
                </a:solidFill>
                <a:latin typeface="Calibri"/>
              </a:defRPr>
            </a:pPr>
            <a:r>
              <a:t>Margin: ~40-60% depending on your hourly 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0" y="2011680"/>
            <a:ext cx="33832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ILOT COCO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FDBA74"/>
                </a:solidFill>
                <a:latin typeface="Calibri"/>
              </a:defRPr>
            </a:pPr>
            <a:r>
              <a:t>Technical Reference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 i="1">
                <a:solidFill>
                  <a:srgbClr val="6B7280"/>
                </a:solidFill>
                <a:latin typeface="Calibri"/>
              </a:defRPr>
            </a:pPr>
            <a:r>
              <a:t>Ready to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