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B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ILOT COCO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97316"/>
                </a:solidFill>
                <a:latin typeface="Calibri"/>
              </a:defRPr>
            </a:pPr>
            <a:r>
              <a:t>Projet Web Full-Stack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DEE"/>
                </a:solidFill>
                <a:latin typeface="Calibri"/>
              </a:defRPr>
            </a:pPr>
            <a:r>
              <a:t>Proposition Technique &amp; Commerciale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572000"/>
            <a:ext cx="3931920" cy="36576"/>
          </a:xfrm>
          <a:prstGeom prst="rect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BBCC"/>
                </a:solidFill>
                <a:latin typeface="Calibri"/>
              </a:defRPr>
            </a:pPr>
            <a:r>
              <a:t>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Vue d'ensemble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Ce que nous construisons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Site web public vitrine avec video de couverture et galerie photo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Systeme de reservation avec integration WhatsApp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Menu digital avec deux versions : Standard et Extra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Systeme de vouchers et ventes flash avec compte a rebours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Inscription utilisateurs (email/telephone + Google/Facebook)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Systeme d'avis clients avec moderation admin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Backoffice complet pour gerer tout le contenu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Integration reseaux sociaux : WhatsApp, Instagram, Messenger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Site multilingue : Francais, Arabe, Anglais</a:t>
            </a:r>
          </a:p>
          <a:p>
            <a:pPr>
              <a:spcAft>
                <a:spcPts val="400"/>
              </a:spcAft>
              <a:defRPr sz="1600">
                <a:solidFill>
                  <a:srgbClr val="1C1917"/>
                </a:solidFill>
                <a:latin typeface="Calibri"/>
              </a:defRPr>
            </a:pPr>
            <a:r>
              <a:t>Cron jobs pour activation/desactivation automatique des promos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840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  <a:latin typeface="Calibri"/>
              </a:defRPr>
            </a:pPr>
            <a:r>
              <a:t>Chiffres 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40 User Stories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10 Tables de base de donnees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3 Langues supportees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~200 heures de developpement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10-12 semaines de livraison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27 fonctionnalites client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13 fonctionnalites backoffice</a:t>
            </a:r>
          </a:p>
          <a:p>
            <a:pPr>
              <a:spcAft>
                <a:spcPts val="400"/>
              </a:spcAft>
              <a:defRPr sz="1400">
                <a:solidFill>
                  <a:srgbClr val="1C1917"/>
                </a:solidFill>
                <a:latin typeface="Calibri"/>
              </a:defRPr>
            </a:pPr>
            <a:r>
              <a:t>2 cron jobs automatiques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Fonctionnalites - Site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Ce que vos clients voient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8046720"/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Fonctionnalite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Video de couverture (Hero)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Video plein ecran en arriere-plan avec identite de marque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 propos / Decouvrir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Presentation de l'activite et atouts uniques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Menu / Plats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Deux versions : Standard et Extra, avec prix et images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Galerie photo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Grille masonry geree depuis le backoffice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Emplacements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Cabanes, pied dans l'eau, plage, balade pirate en mer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Vouchers / Promos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Codes promo et reductions affiches sur le site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Vente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Ventes limitees avec compte a rebours et reduction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Avis clients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Temoignages approuves par l'admin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Reseaux sociaux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Boutons WhatsApp, Instagram, Messenger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Localisation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Carte Google Maps, telephone, itineraire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Multilingue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Francais, Arabe (RTL), Anglais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Fonctionnalites - Backoffice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Ce que vous gerez vous-meme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7589520"/>
              </a:tblGrid>
              <a:tr h="3990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Fonctionnalite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Tableau de bord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Statistiques : visites, reservations, promos actives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du menu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Ajouter/modifier/supprimer plats, prix Standard/Extra, images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des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Upload, reorganiser, supprimer pour toutes les sections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des emplacements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Descriptions, images, prix, capacite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des vouchers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Creer des codes promo avec reduction, date d'expiration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ventes flash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Programmer debut/fin, reduction %, activation auto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Moderation des 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Voir, approuver, rejeter ou masquer les avis clients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Reservations recues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Consulter les demandes de reservation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du contenu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Modifier textes, video hero, infos contact, mots-cles SEO</a:t>
                      </a:r>
                    </a:p>
                  </a:txBody>
                  <a:tcPr/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Gestion utilisateurs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Voir les utilisateurs inscrits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  <a:latin typeface="Calibri"/>
              </a:defRPr>
            </a:pPr>
            <a:r>
              <a:t>Tout est modifiable sans intervention technique : photos, prix, menus, promos, textes.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Comment le systeme est construit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Vue.js 3 + Vite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TailwindCSS v4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Vue Router + Vue I18n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GSAP Animations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Lenis Smooth Scroll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Pinia (state)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  <a:latin typeface="Calibri"/>
              </a:defRPr>
            </a:pPr>
            <a:r>
              <a:t>&lt;--&gt;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Node.js (Fastify)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Prisma ORM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JWT Authentication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node-cron (jobs)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Multer (file upload)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  <a:latin typeface="Calibri"/>
              </a:defRPr>
            </a:pPr>
            <a:r>
              <a:t>&lt;--&gt;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82880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BASE DE DONNEES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4688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PostgreSQL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10 tables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Users &amp; Auth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Menus &amp; Items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Vouchers &amp; Flash Sales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Reviews &amp; Reservations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303520"/>
            <a:ext cx="3200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5394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STOCKAGE FICHIERS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760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C1917"/>
                </a:solidFill>
                <a:latin typeface="Calibri"/>
              </a:defRPr>
            </a:pPr>
            <a:r>
              <a:t>Cloudflare R2 / S3</a:t>
            </a:r>
            <a:br/>
            <a:r>
              <a:t>Images, videos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5303520"/>
            <a:ext cx="3200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5394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HEBERGEMENT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760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C1917"/>
                </a:solidFill>
                <a:latin typeface="Calibri"/>
              </a:defRPr>
            </a:pPr>
            <a:r>
              <a:t>Railway / Hetzner / OVH</a:t>
            </a:r>
            <a:br/>
            <a:r>
              <a:t>Vercel (frontend)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Comparaison des Frameworks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Quel langage choisir 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2103120"/>
                <a:gridCol w="2103120"/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Django (Python)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.NET (C#)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Laravel (PHP)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Vitesse de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Cout hebergement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Meme langage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★★☆☆☆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★★☆☆☆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★★☆☆☆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Ecosysteme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Cron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Migration OVH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34/35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29/35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22/35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29/35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0A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RECOMMANDATION : Node.js (Fastify + Prisma + PostgreSQL)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EE"/>
                </a:solidFill>
                <a:latin typeface="Calibri"/>
              </a:defRPr>
            </a:pPr>
            <a:r>
              <a:t>Un seul langage (JavaScript) pour tout le projet = un seul developpeur peut tout gerer. Hebergement le moins cher. Developpement le plus rapide pour les operations CRUD.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Comparaison Hebergement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Options et couts mensuels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  <a:latin typeface="Calibri"/>
              </a:defRPr>
            </a:pPr>
            <a:r>
              <a:t>Option A : Plateformes gerees (plus simple)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Fournisseur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de donnees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Cout/mois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Railway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Inclus ($5 credit)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PostgreSQL inclus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~$5-10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Render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Starter $7/mois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PostgreSQL $7/mois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~$7-14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Vercel + Supabase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Serverless (gratuit)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Supabase gratuit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$0 (tier gratuit)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  <a:latin typeface="Calibri"/>
              </a:defRPr>
            </a:pPr>
            <a:r>
              <a:t>Option B : VPS (moins cher long terme)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83080"/>
          <a:ext cx="4846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18872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Fournisseur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Prix/mois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Hetzner CX22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 vCPU, 4GB RAM, 40GB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3.79 EUR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OVH VPS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 vCPU, 2GB RAM, 20GB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3.50 EUR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DigitalOcean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 vCPU, 1GB RAM, 25GB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$6.00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Contabo VPS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 vCPU, 8GB RAM, 50GB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4.99 EUR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  <a:latin typeface="Calibri"/>
              </a:defRPr>
            </a:pPr>
            <a:r>
              <a:t>Plan recommande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t>Phase 1 - Lancement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917"/>
                </a:solidFill>
                <a:latin typeface="Calibri"/>
              </a:defRPr>
            </a:pPr>
            <a:r>
              <a:t>Frontend : Vercel (gratuit)</a:t>
            </a:r>
            <a:br/>
            <a:r>
              <a:t>Backend : Railway ($5/mois)</a:t>
            </a:r>
            <a:br/>
            <a:r>
              <a:t>Base de donnees : incluse</a:t>
            </a:r>
            <a:br/>
            <a:r>
              <a:t>Stockage : Cloudflare R2 (gratuit)</a:t>
            </a:r>
            <a:br/>
            <a:br/>
            <a:r>
              <a:t>Total : ~$5-7/mois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t>Phase 2 - Migration OVH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1917"/>
                </a:solidFill>
                <a:latin typeface="Calibri"/>
              </a:defRPr>
            </a:pPr>
            <a:r>
              <a:t>Tout sur Hetzner CX22 ou OVH VPS</a:t>
            </a:r>
            <a:br/>
            <a:r>
              <a:t>PostgreSQL auto-heberge</a:t>
            </a:r>
            <a:br/>
            <a:r>
              <a:t>Node.js + Nginx + Docker</a:t>
            </a:r>
            <a:br/>
            <a:r>
              <a:t>Cloudflare CDN (gratuit)</a:t>
            </a:r>
            <a:br/>
            <a:br/>
            <a:r>
              <a:t>Total : ~4-7 EUR/mois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Backlog -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Decoupage du travail en epics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144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371600"/>
                <a:gridCol w="1371600"/>
                <a:gridCol w="1371600"/>
              </a:tblGrid>
              <a:tr h="396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Nb Stories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Heures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Sprints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Site public (hero, menu, galerie, emplacements)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50h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Authentification utilisateurs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17h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Systeme de 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Avis &amp; feedback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Backoffice - Gestion contenu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Backoffice - Vouchers &amp; Ventes flash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18h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Backoffice - Moderation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Infrastructure backend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26h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Tests &amp;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Deploiement &amp; lancement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~199h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Planning de developpement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Timeline estimee : 10-12 semaines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37160" cy="822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  <a:latin typeface="Calibri"/>
              </a:defRPr>
            </a:pPr>
            <a:r>
              <a:t>Semaines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Infrastructure + Site 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917"/>
                </a:solidFill>
                <a:latin typeface="Calibri"/>
              </a:defRPr>
            </a:pPr>
            <a:r>
              <a:t>Setup backend, DB, API de base</a:t>
            </a:r>
            <a:br/>
            <a:r>
              <a:t>Hero, About, Galerie, Menu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37160" cy="822960"/>
          </a:xfrm>
          <a:prstGeom prst="rect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9668"/>
                </a:solidFill>
                <a:latin typeface="Calibri"/>
              </a:defRPr>
            </a:pPr>
            <a:r>
              <a:t>Semaines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Auth + Contenu dynamique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917"/>
                </a:solidFill>
                <a:latin typeface="Calibri"/>
              </a:defRPr>
            </a:pPr>
            <a:r>
              <a:t>Inscription/connexion utilisateurs</a:t>
            </a:r>
            <a:br/>
            <a:r>
              <a:t>Emplacements, avis, reseaux sociaux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137160" cy="822960"/>
          </a:xfrm>
          <a:prstGeom prst="rect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2956B"/>
                </a:solidFill>
                <a:latin typeface="Calibri"/>
              </a:defRPr>
            </a:pPr>
            <a:r>
              <a:t>Semaines 5-6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Backoffice - Contenu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917"/>
                </a:solidFill>
                <a:latin typeface="Calibri"/>
              </a:defRPr>
            </a:pPr>
            <a:r>
              <a:t>Admin : menus, images, emplacements</a:t>
            </a:r>
            <a:br/>
            <a:r>
              <a:t>Gestion du contenu du 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3716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Semaines 7-8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Vouchers &amp; Ventes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917"/>
                </a:solidFill>
                <a:latin typeface="Calibri"/>
              </a:defRPr>
            </a:pPr>
            <a:r>
              <a:t>Systeme de vouchers + ventes flash</a:t>
            </a:r>
            <a:br/>
            <a:r>
              <a:t>Cron jobs + comptes a rebours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13716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Semaines 9-10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Calibri"/>
              </a:defRPr>
            </a:pPr>
            <a:r>
              <a:t>Tests &amp; Deploiement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69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917"/>
                </a:solidFill>
                <a:latin typeface="Calibri"/>
              </a:defRPr>
            </a:pPr>
            <a:r>
              <a:t>QA, corrections, responsive</a:t>
            </a:r>
            <a:br/>
            <a:r>
              <a:t>Mise en production + 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Estimation des couts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Developpement + Hebergement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  <a:latin typeface="Calibri"/>
              </a:defRPr>
            </a:pPr>
            <a:r>
              <a:t>A. Cout de developpement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731520"/>
                <a:gridCol w="20116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Approche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Taux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Heures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Freelance (marche tunisien)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30-50 TND/h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6,000-10,000 TND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Freelance (international)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$25-50/h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$5,000-10,000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Petite agence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$40-80/h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$8,000-16,000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  <a:latin typeface="Calibri"/>
              </a:defRPr>
            </a:pPr>
            <a:r>
              <a:t>B. Cout hebergement mensuel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4846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188720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Composants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Cout/mois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Lancement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Railway + Vercel + CDN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$5-10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VPS Hetzner/OVH + Cloudflare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4-7 EUR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Domaine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.com / .tn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~$1/mois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$6-15/mois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11247120" cy="2103120"/>
          </a:xfrm>
          <a:prstGeom prst="rect">
            <a:avLst/>
          </a:prstGeom>
          <a:solidFill>
            <a:srgbClr val="0A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Proposition tarifaire suggeree au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Option 1 : Forfait</a:t>
            </a:r>
            <a:br/>
            <a:br/>
            <a:r>
              <a:t>10,000 TND</a:t>
            </a:r>
            <a:br/>
            <a:r>
              <a:t>+ 200 TND/mois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Option 2 : Phasage</a:t>
            </a:r>
            <a:br/>
            <a:br/>
            <a:r>
              <a:t>Phase 1 (MVP) : 6,000 TND</a:t>
            </a:r>
            <a:br/>
            <a:r>
              <a:t>Phase 2 (complet) : 4,000 TND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0292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Inclus :</a:t>
            </a:r>
            <a:br/>
            <a:br/>
            <a:r>
              <a:t>Code source + 3 mois support</a:t>
            </a:r>
            <a:br/>
            <a:r>
              <a:t>Formation backoffice</a:t>
            </a:r>
            <a:br/>
            <a:r>
              <a:t>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Livrables &amp; Autonomie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EE"/>
                </a:solidFill>
                <a:latin typeface="Calibri"/>
              </a:defRPr>
            </a:pPr>
            <a:r>
              <a:t>Ce que le client recoit et gere seul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  <a:latin typeface="Calibri"/>
              </a:defRPr>
            </a:pPr>
            <a:r>
              <a:t>Le client recoit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Site web responsive (desktop, tablette, mobile)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Backoffice complet pour gestion autonome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Systeme d'inscription et d'avis clients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Moteur de vouchers et ventes flash automatise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Support multilingue (FR/AR/EN)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Integration WhatsApp, Instagram, Messenger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SEO optimise avec mots-cles configurables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Propriete du code source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Documentation d'utilisation du backoffice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3 mois de support post-lancement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Le client gere seul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Toutes les photos et videos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Les plats du menu et les prix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Les vouchers et promotions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La programmation des ventes flash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La moderation des avis clients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Les informations de contact et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Necessite un developpeur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Nouvelles fonctionnalites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Changements majeurs de design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Migration de serveur</a:t>
            </a:r>
          </a:p>
          <a:p>
            <a:pPr>
              <a:spcAft>
                <a:spcPts val="400"/>
              </a:spcAft>
              <a:defRPr sz="1300">
                <a:solidFill>
                  <a:srgbClr val="1C1917"/>
                </a:solidFill>
                <a:latin typeface="Calibri"/>
              </a:defRPr>
            </a:pPr>
            <a:r>
              <a:t>Ajout de nouvelles langues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B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Prochaines etapes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554480"/>
            <a:ext cx="6400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01168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57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Validation du perimetre et du budget par le client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Creation des comptes cloud (Railway/Hetzner + base de donnees)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10896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Sprint 1-2 : Infrastructure backend + site public frontend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657599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033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Sprint 3-4 : Authentification + Menu + Galerie + Emplacements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Sprint 5-6 : Backoffice (contenu, menus, images)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75488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00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Sprint 7-8 : Vouchers, ventes flash, avis, cron jobs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303519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3492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Sprint 9-10 : Tests, QA, deploiement, lancement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585216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Post-lancement : Suivi, corrections, optimisation SEO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B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ILOT COCO BEACH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97316"/>
                </a:solidFill>
                <a:latin typeface="Calibri"/>
              </a:defRPr>
            </a:pPr>
            <a:r>
              <a:t>Merci pour votre confiance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DEE"/>
                </a:solidFill>
                <a:latin typeface="Calibri"/>
              </a:defRPr>
            </a:pPr>
            <a: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