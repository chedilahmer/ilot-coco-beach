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4D63"/>
            </a:gs>
            <a:gs pos="100000">
              <a:srgbClr val="05334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93192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 i="1">
                <a:solidFill>
                  <a:srgbClr val="FDBA74"/>
                </a:solidFill>
                <a:latin typeface="Calibri"/>
              </a:defRPr>
            </a:pPr>
            <a:r>
              <a:t>Votre presence digitale, a la hauteur de votre plage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88BBCC"/>
                </a:solidFill>
                <a:latin typeface="Calibri"/>
              </a:defRPr>
            </a:pPr>
            <a:r>
              <a:t>Proposition de projet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5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172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6699AA"/>
                </a:solidFill>
                <a:latin typeface="Calibri"/>
              </a:defRPr>
            </a:pPr>
            <a:r>
              <a:t>Mars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172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6699AA"/>
                </a:solidFill>
                <a:latin typeface="Calibri"/>
              </a:defRPr>
            </a:pPr>
            <a:r>
              <a:t>Confidentiel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Notre vision pour vous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Un site web qui reflete la beaute de votre plage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2029968"/>
            <a:ext cx="3346704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331720"/>
            <a:ext cx="502920" cy="50292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Attirer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Un design qui capte l'attention des visiteurs des le premier regard. Video immersive, galerie photo, ambiance paradise.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7" y="2029968"/>
            <a:ext cx="3346704" cy="548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79" y="233172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Convertir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8346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Systeme de reservation simple, ventes flash avec compte a rebours, vouchers promotionnels pour transformer les visiteurs en clients.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9" y="201168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7" y="2029968"/>
            <a:ext cx="3346704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19" y="2331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3317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Fideliser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834640"/>
            <a:ext cx="2834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Espace client avec avis, programme de reductions, et communication directe via WhatsApp, Instagram et Messenger.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20"/>
            <a:ext cx="10698480" cy="640080"/>
          </a:xfrm>
          <a:prstGeom prst="roundRect">
            <a:avLst>
              <a:gd name="adj" fmla="val 8000"/>
            </a:avLst>
          </a:prstGeom>
          <a:solidFill>
            <a:srgbClr val="084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Tout le contenu du site sera geerable par vous-meme, sans aucune competence technique requise.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Ce que vos clients decouvrent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L'experience de navigation sur votre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64008" cy="21945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Video immersive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Une video plein ecran en page d'accueil qui plonge le visiteur dans l'ambiance de votre plage.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828800"/>
            <a:ext cx="64008" cy="21945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Menu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Vos plats presentes avec photos, en deux formules : Standard et Extra. Prix et disponibilite a jour.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64008" cy="21945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Galerie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Vos plus belles images dans une galerie interactive et elegante, mise a jour depuis le backoffice.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828800"/>
            <a:ext cx="64008" cy="2194560"/>
          </a:xfrm>
          <a:prstGeom prst="rect">
            <a:avLst/>
          </a:prstGeom>
          <a:solidFill>
            <a:srgbClr val="C29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057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Emplacements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46888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Cabanes, pied dans l'eau, plage, balade pirate en mer. Chaque espace avec sa description et tarif.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64008" cy="21945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Ventes 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Offres limitees avec compte a rebours visible. Creez l'urgence et boostez vos reservations.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29768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4297680"/>
            <a:ext cx="64008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Vouchers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937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Codes promotionnels affiches sur le site. Vos clients les appliquent lors de la reservation.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29768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297680"/>
            <a:ext cx="64008" cy="21945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Avis clients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937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Les temoignages de vos clients satisfaits, que vous choisissez d'afficher ou non.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29768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4297680"/>
            <a:ext cx="64008" cy="219456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4526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Contact direct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9377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Boutons WhatsApp, Instagram et Messenger pour une communication instantanee.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4D63"/>
            </a:gs>
            <a:gs pos="100000">
              <a:srgbClr val="05334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Votre 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AACCDD"/>
                </a:solidFill>
                <a:latin typeface="Calibri"/>
              </a:defRPr>
            </a:pPr>
            <a:r>
              <a:t>Gerez tout votre contenu en autonomie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88AABB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84708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Menu &amp; Prix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Ajoutez, modifiez ou supprimez vos plats.</a:t>
            </a:r>
            <a:br/>
            <a:r>
              <a:t>Gerez les prix Standard et Extra.</a:t>
            </a:r>
            <a:br/>
            <a:r>
              <a:t>Activez/desactivez des plats.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4708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Photos &amp; Videos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Ajoutez de nouvelles photos.</a:t>
            </a:r>
            <a:br/>
            <a:r>
              <a:t>Reorganisez votre galerie.</a:t>
            </a:r>
            <a:br/>
            <a:r>
              <a:t>Changez la video d'accueil.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84708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Vouchers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0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Creez des codes promo avec</a:t>
            </a:r>
            <a:br/>
            <a:r>
              <a:t>reduction en % ou montant fixe.</a:t>
            </a:r>
            <a:br/>
            <a:r>
              <a:t>Definissez les dates de validite.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" y="431596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Ventes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Programmez des ventes limitees.</a:t>
            </a:r>
            <a:br/>
            <a:r>
              <a:t>Le systeme les active et desactive</a:t>
            </a:r>
            <a:br/>
            <a:r>
              <a:t>automatiquement a l'heure prevue.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2976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431596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Avis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Consultez tous les avis recus.</a:t>
            </a:r>
            <a:br/>
            <a:r>
              <a:t>Approuvez ceux a afficher.</a:t>
            </a:r>
            <a:br/>
            <a:r>
              <a:t>Masquez ou supprimez les autres.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976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4315968"/>
            <a:ext cx="3529584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572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alibri"/>
              </a:defRPr>
            </a:pPr>
            <a:r>
              <a:t>Reservations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0292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ACCDD"/>
                </a:solidFill>
                <a:latin typeface="Calibri"/>
              </a:defRPr>
            </a:pPr>
            <a:r>
              <a:t>Recevez les demandes en temps reel.</a:t>
            </a:r>
            <a:br/>
            <a:r>
              <a:t>Consultez l'historique.</a:t>
            </a:r>
            <a:br/>
            <a:r>
              <a:t>Repondez via WhatsApp.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Le parcours de votre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De la decouverte a la 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2057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011680"/>
            <a:ext cx="640080" cy="6400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Decouvre</a:t>
            </a:r>
            <a:br/>
            <a:r>
              <a:t>votre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Via Google, reseaux</a:t>
            </a:r>
            <a:br/>
            <a:r>
              <a:t>sociaux ou bouche</a:t>
            </a:r>
            <a:br/>
            <a:r>
              <a:t>a oreille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F9731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286000"/>
            <a:ext cx="2057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2011680"/>
            <a:ext cx="640080" cy="64008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34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Explore</a:t>
            </a:r>
            <a:br/>
            <a:r>
              <a:t>le contenu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6576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Video, galerie,</a:t>
            </a:r>
            <a:br/>
            <a:r>
              <a:t>menu, emplacements</a:t>
            </a:r>
            <a:br/>
            <a:r>
              <a:t>et avis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F9731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2057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201168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34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Voit une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6576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Vente flash ou</a:t>
            </a:r>
            <a:br/>
            <a:r>
              <a:t>voucher qui cree</a:t>
            </a:r>
            <a:br/>
            <a:r>
              <a:t>l'envie de venir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F9731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19" y="2286000"/>
            <a:ext cx="2057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9" y="20116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834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Reserve</a:t>
            </a:r>
            <a:br/>
            <a:r>
              <a:t>sa place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6576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Formulaire simple</a:t>
            </a:r>
            <a:br/>
            <a:r>
              <a:t>envoye directement</a:t>
            </a:r>
            <a:br/>
            <a:r>
              <a:t>via 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F97316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286000"/>
            <a:ext cx="20574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78440" y="2011680"/>
            <a:ext cx="640080" cy="64008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83464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Partage</a:t>
            </a:r>
            <a:br/>
            <a:r>
              <a:t>son avis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65760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Apres sa visite,</a:t>
            </a:r>
            <a:br/>
            <a:r>
              <a:t>laisse un temoignage</a:t>
            </a:r>
            <a:br/>
            <a:r>
              <a:t>sur le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Touchez plus de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Multilingue + Reseaux sociaux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🇫🇷  Francais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Langue principale du site.</a:t>
            </a:r>
            <a:br/>
            <a:r>
              <a:t>Tout le contenu, menus et</a:t>
            </a:r>
            <a:br/>
            <a:r>
              <a:t>interface en francais.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🇹🇳  Arabe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Interface completement</a:t>
            </a:r>
            <a:br/>
            <a:r>
              <a:t>adaptee de droite a gauche</a:t>
            </a:r>
            <a:br/>
            <a:r>
              <a:t>(RTL) pour vos clients arabes.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82880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🇬🇧  Anglais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4231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Pour les touristes</a:t>
            </a:r>
            <a:br/>
            <a:r>
              <a:t>internationaux qui visitent</a:t>
            </a:r>
            <a:br/>
            <a:r>
              <a:t>la region.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25D366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Reservation directe et</a:t>
            </a:r>
            <a:br/>
            <a:r>
              <a:t>communication en temps reel</a:t>
            </a:r>
            <a:br/>
            <a:r>
              <a:t>avec vos clients.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420624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4206240"/>
            <a:ext cx="2286000" cy="54864"/>
          </a:xfrm>
          <a:prstGeom prst="rect">
            <a:avLst/>
          </a:prstGeom>
          <a:solidFill>
            <a:srgbClr val="E13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E1306C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463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Redirigez vers votre page</a:t>
            </a:r>
            <a:br/>
            <a:r>
              <a:t>Instagram pour partager</a:t>
            </a:r>
            <a:br/>
            <a:r>
              <a:t>vos moments.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06240"/>
            <a:ext cx="22860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4206240"/>
            <a:ext cx="2286000" cy="54864"/>
          </a:xfrm>
          <a:prstGeom prst="rect">
            <a:avLst/>
          </a:prstGeom>
          <a:solidFill>
            <a:srgbClr val="008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3891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0084FF"/>
                </a:solidFill>
                <a:latin typeface="Calibri"/>
              </a:defRPr>
            </a:pPr>
            <a:r>
              <a:t>Messenger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8463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Discussion directe via</a:t>
            </a:r>
            <a:br/>
            <a:r>
              <a:t>Facebook Messenger pour</a:t>
            </a:r>
            <a:br/>
            <a:r>
              <a:t>les questions rapides.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1828800"/>
            <a:ext cx="3200400" cy="4389120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4747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0E7490"/>
                </a:solidFill>
                <a:latin typeface="Calibri"/>
              </a:defRPr>
            </a:pPr>
            <a:r>
              <a:t>Votre site s'adapte</a:t>
            </a:r>
            <a:br/>
            <a:r>
              <a:t>automatiquement a</a:t>
            </a:r>
            <a:br/>
            <a:r>
              <a:t>chaque langue et</a:t>
            </a:r>
            <a:br/>
            <a:r>
              <a:t>chaque ecran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Votre investissement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Un projet cle en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7/12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457200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FORFAIT COMPLET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4000" b="1" i="0">
                <a:solidFill>
                  <a:srgbClr val="0E7490"/>
                </a:solidFill>
                <a:latin typeface="Calibri"/>
              </a:defRPr>
            </a:pPr>
            <a:r>
              <a:t>10,000 TND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F97316"/>
                </a:solidFill>
                <a:latin typeface="Calibri"/>
              </a:defRPr>
            </a:pPr>
            <a:r>
              <a:t>+ 200 TND / mois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605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Site web complet avec toutes les fonctionnalites</a:t>
            </a:r>
          </a:p>
        </p:txBody>
      </p:sp>
      <p:sp>
        <p:nvSpPr>
          <p:cNvPr id="13" name="Oval 12"/>
          <p:cNvSpPr/>
          <p:nvPr/>
        </p:nvSpPr>
        <p:spPr>
          <a:xfrm>
            <a:off x="1325880" y="419709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4165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Backoffice de gestion autonome</a:t>
            </a:r>
          </a:p>
        </p:txBody>
      </p:sp>
      <p:sp>
        <p:nvSpPr>
          <p:cNvPr id="15" name="Oval 14"/>
          <p:cNvSpPr/>
          <p:nvPr/>
        </p:nvSpPr>
        <p:spPr>
          <a:xfrm>
            <a:off x="1325880" y="44531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67258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Multilingue (FR / AR / EN)</a:t>
            </a:r>
          </a:p>
        </p:txBody>
      </p:sp>
      <p:sp>
        <p:nvSpPr>
          <p:cNvPr id="17" name="Oval 16"/>
          <p:cNvSpPr/>
          <p:nvPr/>
        </p:nvSpPr>
        <p:spPr>
          <a:xfrm>
            <a:off x="1325880" y="4709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9286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Hebergement 1ere annee inclus</a:t>
            </a:r>
          </a:p>
        </p:txBody>
      </p:sp>
      <p:sp>
        <p:nvSpPr>
          <p:cNvPr id="19" name="Oval 18"/>
          <p:cNvSpPr/>
          <p:nvPr/>
        </p:nvSpPr>
        <p:spPr>
          <a:xfrm>
            <a:off x="1325880" y="49651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18464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Formation d'utilisation</a:t>
            </a:r>
          </a:p>
        </p:txBody>
      </p:sp>
      <p:sp>
        <p:nvSpPr>
          <p:cNvPr id="21" name="Oval 20"/>
          <p:cNvSpPr/>
          <p:nvPr/>
        </p:nvSpPr>
        <p:spPr>
          <a:xfrm>
            <a:off x="1325880" y="5221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5440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3 mois de support post-lancement</a:t>
            </a:r>
          </a:p>
        </p:txBody>
      </p:sp>
      <p:sp>
        <p:nvSpPr>
          <p:cNvPr id="23" name="Oval 22"/>
          <p:cNvSpPr/>
          <p:nvPr/>
        </p:nvSpPr>
        <p:spPr>
          <a:xfrm>
            <a:off x="1325880" y="547725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696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1C1917"/>
                </a:solidFill>
                <a:latin typeface="Calibri"/>
              </a:defRPr>
            </a:pPr>
            <a:r>
              <a:t>  Code source : votre propriete</a:t>
            </a:r>
          </a:p>
        </p:txBody>
      </p:sp>
      <p:sp>
        <p:nvSpPr>
          <p:cNvPr id="25" name="Oval 24"/>
          <p:cNvSpPr/>
          <p:nvPr/>
        </p:nvSpPr>
        <p:spPr>
          <a:xfrm>
            <a:off x="1325880" y="573328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01168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2011680"/>
            <a:ext cx="4572000" cy="731520"/>
          </a:xfrm>
          <a:prstGeom prst="roundRect">
            <a:avLst>
              <a:gd name="adj" fmla="val 6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468880"/>
            <a:ext cx="4572000" cy="3657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10312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EN DEUX PHASES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Phase 1 (MVP)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 i="0">
                <a:solidFill>
                  <a:srgbClr val="F97316"/>
                </a:solidFill>
                <a:latin typeface="Calibri"/>
              </a:defRPr>
            </a:pPr>
            <a:r>
              <a:t>6,000 TND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Site public + Menu + Galerie + Reservation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Phase 2 (Complet)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 i="0">
                <a:solidFill>
                  <a:srgbClr val="F97316"/>
                </a:solidFill>
                <a:latin typeface="Calibri"/>
              </a:defRPr>
            </a:pPr>
            <a:r>
              <a:t>4,000 TND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Backoffice + Vouchers + Flash + Users + Avis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F97316"/>
                </a:solidFill>
                <a:latin typeface="Calibri"/>
              </a:defRPr>
            </a:pPr>
            <a:r>
              <a:t>+ 200 TND / mois maintenance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Couts de 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Ce que coute l'hebergement chaque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9144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Hebergement serveur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Le serveur qui fait tourner votre site et votre backoffice, accessible 24h/24.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800" b="1" i="0">
                <a:solidFill>
                  <a:srgbClr val="0E7490"/>
                </a:solidFill>
                <a:latin typeface="Calibri"/>
              </a:defRPr>
            </a:pPr>
            <a:r>
              <a:t>4-7 EUR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73152" cy="914400"/>
          </a:xfrm>
          <a:prstGeom prst="rect">
            <a:avLst/>
          </a:prstGeom>
          <a:solidFill>
            <a:srgbClr val="C29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Nom de domaine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Votre adresse web personnalisee (ex: ilotcocobeach.com)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800" b="1" i="0">
                <a:solidFill>
                  <a:srgbClr val="C2956B"/>
                </a:solidFill>
                <a:latin typeface="Calibri"/>
              </a:defRPr>
            </a:pPr>
            <a:r>
              <a:t>~1 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Certificat SSL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Le cadenas de securite sur votre site. Gratuit avec Let's Encrypt.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39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20639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1C1917"/>
                </a:solidFill>
                <a:latin typeface="Calibri"/>
              </a:defRPr>
            </a:pPr>
            <a:r>
              <a:t>CDN &amp; Securite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321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Acceleration du chargement et protection contre les attaques. Cloudflare gratuit.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3035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Gratuit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69280"/>
            <a:ext cx="7772400" cy="731520"/>
          </a:xfrm>
          <a:prstGeom prst="roundRect">
            <a:avLst>
              <a:gd name="adj" fmla="val 8000"/>
            </a:avLst>
          </a:prstGeom>
          <a:solidFill>
            <a:srgbClr val="084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TOTAL MENSUEL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2200" b="1" i="0">
                <a:solidFill>
                  <a:srgbClr val="FDBA74"/>
                </a:solidFill>
                <a:latin typeface="Calibri"/>
              </a:defRPr>
            </a:pPr>
            <a:r>
              <a:t>5 - 8 EUR / mois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828800"/>
            <a:ext cx="2560320" cy="4572000"/>
          </a:xfrm>
          <a:prstGeom prst="roundRect">
            <a:avLst>
              <a:gd name="adj" fmla="val 8000"/>
            </a:avLst>
          </a:prstGeom>
          <a:solidFill>
            <a:srgbClr val="FB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0E7490"/>
                </a:solidFill>
                <a:latin typeface="Calibri"/>
              </a:defRPr>
            </a:pPr>
            <a:r>
              <a:t>A titre de</a:t>
            </a:r>
            <a:br/>
            <a:r>
              <a:t>comparaison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7432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Un site Wix Pro</a:t>
            </a:r>
            <a:br/>
            <a:r>
              <a:t>coute $17/mois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490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Un site Squarespace</a:t>
            </a:r>
            <a:br/>
            <a:r>
              <a:t>coute $27/mois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7548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Une page Facebook</a:t>
            </a:r>
            <a:br/>
            <a:r>
              <a:t>sponsored coute</a:t>
            </a:r>
            <a:br/>
            <a:r>
              <a:t>$50+/mois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7607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Votre site :</a:t>
            </a:r>
            <a:br/>
            <a:r>
              <a:t>~6 EUR/mois</a:t>
            </a:r>
            <a:br/>
            <a:r>
              <a:t>SANS abonnement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Calendrier de 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Votre site pret en 10 semaines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9/12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9966960" cy="36576"/>
          </a:xfrm>
          <a:prstGeom prst="rect">
            <a:avLst/>
          </a:prstGeom>
          <a:solidFill>
            <a:srgbClr val="C29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108960"/>
            <a:ext cx="411480" cy="4114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0E7490"/>
                </a:solidFill>
                <a:latin typeface="Calibri"/>
              </a:defRPr>
            </a:pPr>
            <a:r>
              <a:t>Sem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Fondations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Mise en place du site,</a:t>
            </a:r>
            <a:br/>
            <a:r>
              <a:t>video d'accueil, galerie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108960"/>
            <a:ext cx="411480" cy="41148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069668"/>
                </a:solidFill>
                <a:latin typeface="Calibri"/>
              </a:defRPr>
            </a:pPr>
            <a:r>
              <a:t>Sem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Contenu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40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Menu digital, emplacements,</a:t>
            </a:r>
            <a:br/>
            <a:r>
              <a:t>avis clients, reservation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108960"/>
            <a:ext cx="411480" cy="411480"/>
          </a:xfrm>
          <a:prstGeom prst="ellipse">
            <a:avLst/>
          </a:prstGeom>
          <a:solidFill>
            <a:srgbClr val="C29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C2956B"/>
                </a:solidFill>
                <a:latin typeface="Calibri"/>
              </a:defRPr>
            </a:pPr>
            <a:r>
              <a:t>Sem 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Backoffice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840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Panneau d'administration</a:t>
            </a:r>
            <a:br/>
            <a:r>
              <a:t>pour gerer tout le contenu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0" y="310896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F97316"/>
                </a:solidFill>
                <a:latin typeface="Calibri"/>
              </a:defRPr>
            </a:pPr>
            <a:r>
              <a:t>Sem 7-8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Promotions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840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Vouchers, ventes flash,</a:t>
            </a:r>
            <a:br/>
            <a:r>
              <a:t>cron jobs automatiques</a:t>
            </a:r>
          </a:p>
        </p:txBody>
      </p:sp>
      <p:sp>
        <p:nvSpPr>
          <p:cNvPr id="23" name="Oval 22"/>
          <p:cNvSpPr/>
          <p:nvPr/>
        </p:nvSpPr>
        <p:spPr>
          <a:xfrm>
            <a:off x="11612880" y="3108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2194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 i="0">
                <a:solidFill>
                  <a:srgbClr val="7C3AED"/>
                </a:solidFill>
                <a:latin typeface="Calibri"/>
              </a:defRPr>
            </a:pPr>
            <a:r>
              <a:t>Sem 9-10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468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1C1917"/>
                </a:solidFill>
                <a:latin typeface="Calibri"/>
              </a:defRPr>
            </a:pPr>
            <a:r>
              <a:t>Lancement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384048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Tests, corrections,</a:t>
            </a:r>
            <a:br/>
            <a:r>
              <a:t>mise en ligne + formation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303520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39496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0E7490"/>
                </a:solidFill>
                <a:latin typeface="Calibri"/>
              </a:defRPr>
            </a:pPr>
            <a:r>
              <a:t>Vous recevez des mises a jour a chaque etape.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76072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Vos retours sont integres au fur et a mesure pour un resultat qui vous ressemble.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4D63"/>
            </a:gs>
            <a:gs pos="100000">
              <a:srgbClr val="05334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Ce que vous recevez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AACCDD"/>
                </a:solidFill>
                <a:latin typeface="Calibri"/>
              </a:defRPr>
            </a:pPr>
            <a:r>
              <a:t>Tout ce qui est inclus dans le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88AABB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01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Site web responsive : parfait sur ordinateur, tablette et telephone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9019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Backoffice complet : gerez menus, photos, prix, promos en autonomie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163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Systeme de reservation via WhatsApp : zero cout par message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28163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43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Ventes flash automatisees : programmez, le systeme fait le reste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7307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Multilingue : Francais, Arabe et Anglais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37307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Avis clients : vos clients temoignent, vous moderez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451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SEO optimise : mots-cles configurables pour etre trouve sur Google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6451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Code source : votre propriete, vous n'etes dependant de personne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5595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Formation : nous vous montrons comment tout gerer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55595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3 mois de support : nous restons disponibles apres le lancement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0E7490"/>
                </a:solidFill>
                <a:latin typeface="Calibri"/>
              </a:defRPr>
            </a:pPr>
            <a:r>
              <a:t>Prochaines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1">
                <a:solidFill>
                  <a:srgbClr val="6B7280"/>
                </a:solidFill>
                <a:latin typeface="Calibri"/>
              </a:defRPr>
            </a:pPr>
            <a:r>
              <a:t>Comment on avance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11/12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011680"/>
            <a:ext cx="640080" cy="64008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1C1917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Vous validez le perimetre du projet et le budget.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2860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260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1C1917"/>
                </a:solidFill>
                <a:latin typeface="Calibri"/>
              </a:defRPr>
            </a:pPr>
            <a:r>
              <a:t>Lancement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Nous demarrons le developpement immediatement.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860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52360" y="2011680"/>
            <a:ext cx="640080" cy="640080"/>
          </a:xfrm>
          <a:prstGeom prst="ellipse">
            <a:avLst/>
          </a:prstGeom>
          <a:solidFill>
            <a:srgbClr val="06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1C1917"/>
                </a:solidFill>
                <a:latin typeface="Calibri"/>
              </a:defRPr>
            </a:pPr>
            <a:r>
              <a:t>Suivi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Vous recevez des demos regulieres a chaque etape.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28600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0" y="20116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92608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1C1917"/>
                </a:solidFill>
                <a:latin typeface="Calibri"/>
              </a:defRPr>
            </a:pPr>
            <a:r>
              <a:t>Livraison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3832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6B7280"/>
                </a:solidFill>
                <a:latin typeface="Calibri"/>
              </a:defRPr>
            </a:pPr>
            <a:r>
              <a:t>Le site est mis en ligne et vous etes forme.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486400"/>
            <a:ext cx="7589520" cy="822960"/>
          </a:xfrm>
          <a:prstGeom prst="roundRect">
            <a:avLst>
              <a:gd name="adj" fmla="val 8000"/>
            </a:avLst>
          </a:prstGeom>
          <a:solidFill>
            <a:srgbClr val="084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56235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Pret a demarrer ? Contactez-nous pour fixer un rendez-vous de lancement.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84D63"/>
            </a:gs>
            <a:gs pos="100000">
              <a:srgbClr val="053344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4572000" cy="45720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89120" y="2103120"/>
            <a:ext cx="338328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000" b="1" i="0">
                <a:solidFill>
                  <a:srgbClr val="FFFFFF"/>
                </a:solidFill>
                <a:latin typeface="Calibri"/>
              </a:defRPr>
            </a:pPr>
            <a:r>
              <a:t>ILOT COCO BEACH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600" b="0" i="0">
                <a:solidFill>
                  <a:srgbClr val="FDBA74"/>
                </a:solidFill>
                <a:latin typeface="Calibri"/>
              </a:defRPr>
            </a:pPr>
            <a:r>
              <a:t>Merci pour votre confiance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0" i="1">
                <a:solidFill>
                  <a:srgbClr val="88BBCC"/>
                </a:solidFill>
                <a:latin typeface="Calibri"/>
              </a:defRPr>
            </a:pPr>
            <a:r>
              <a:t>Votre ile, votre evasion.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1645920"/>
          </a:xfrm>
          <a:prstGeom prst="roundRect">
            <a:avLst>
              <a:gd name="adj" fmla="val 8000"/>
            </a:avLst>
          </a:prstGeom>
          <a:solidFill>
            <a:srgbClr val="0C5E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Des questions ? Contactez-nous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212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FDBA74"/>
                </a:solidFill>
                <a:latin typeface="Calibri"/>
              </a:defRPr>
            </a:pPr>
            <a:r>
              <a:t>contact@ilotcocobeach.com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577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AACCDD"/>
                </a:solidFill>
                <a:latin typeface="Calibri"/>
              </a:defRPr>
            </a:pPr>
            <a:r>
              <a:t>+216 99 123 456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